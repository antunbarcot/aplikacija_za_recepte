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3" r:id="rId2"/>
    <p:sldId id="272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571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Pozdrav, ja sam Antun Barcot. Tema mojeg zavrsnog rada je mobilna aplikacija za recepte, izradjena pod mentorstvom profesora Vladana Papica.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Prezentaciju sam podijelio u osam cjelina: od zadatka rada i koristenih tehnologija, preko arhitekture, baze i sucelja, do testiranja i zakljucka.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Zadatak je bio izraditi cjelovito full-stack rjesenje: mobilnog klijenta, posluzitelj i bazu podataka, uz siguran sustav prijave korisnika.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Cijeli projekt pisan je u JavaScriptu, sto je dalo konzistentnost kroz sve slojeve sustava - od mobilnog klijenta do posluzitelja i sheme baze.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Sustav prati klijent-posluzitelj model. Projekt je podijeljen na dva glavna direktorija - backend i mobile - cime je postignuta modularnost.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Prvo je oblikovan ER dijagram, a zatim iz njega relacijski model. Strani kljucevi koriste kaskadno brisanje kako bi se sprijecili nekonzistentni podaci.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Sucelje je zamisljeno kao jednostavno i pregledno. Tri taba na dnu ekrana pokrivaju sve glavne funkcije aplikacije.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je sredisnja CRUD funkcionalnost rada. Testiranjem je potvrdjeno da brisanje iz favorita ne dira izvorni recept ni njegove sastojke.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Clerk odvaja sigurnosni dio sustava od vlastitog posluzitelja. Vlastita baza pamti samo tekstualni identifikator korisnika, a ne i njegove pristupne podatke.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Testovi su pratili tok podataka kroz sve slojeve arhitekture. Sustav se pokazao stabilnim i brzim pri radu sa stvarnim podacima.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Zahvaljujem na paznji i stojim na raspolaganju za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300" b="1" kern="0" spc="150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SVEUČILIŠTE U SPLITU</a:t>
            </a:r>
            <a:endParaRPr lang="hr-HR" sz="1300" noProof="0" dirty="0"/>
          </a:p>
        </p:txBody>
      </p:sp>
      <p:sp>
        <p:nvSpPr>
          <p:cNvPr id="4" name="Text 1"/>
          <p:cNvSpPr/>
          <p:nvPr/>
        </p:nvSpPr>
        <p:spPr>
          <a:xfrm>
            <a:off x="6858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300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Fakultet elektrotehnike, strojarstva i brodogradnje</a:t>
            </a:r>
            <a:endParaRPr lang="hr-HR" sz="1300" noProof="0" dirty="0"/>
          </a:p>
        </p:txBody>
      </p:sp>
      <p:sp>
        <p:nvSpPr>
          <p:cNvPr id="5" name="Text 2"/>
          <p:cNvSpPr/>
          <p:nvPr/>
        </p:nvSpPr>
        <p:spPr>
          <a:xfrm>
            <a:off x="685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500" b="1" kern="0" spc="350" noProof="0" dirty="0">
                <a:solidFill>
                  <a:srgbClr val="54A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ZAVRŠNI RAD</a:t>
            </a:r>
            <a:endParaRPr lang="hr-HR" sz="1500" noProof="0" dirty="0"/>
          </a:p>
        </p:txBody>
      </p:sp>
      <p:sp>
        <p:nvSpPr>
          <p:cNvPr id="6" name="Text 3"/>
          <p:cNvSpPr/>
          <p:nvPr/>
        </p:nvSpPr>
        <p:spPr>
          <a:xfrm>
            <a:off x="658368" y="19659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hr-HR" sz="42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Mobilna aplikacija</a:t>
            </a:r>
            <a:endParaRPr lang="hr-HR" sz="4200" noProof="0" dirty="0"/>
          </a:p>
          <a:p>
            <a:pPr marL="0" indent="0">
              <a:lnSpc>
                <a:spcPts val="4800"/>
              </a:lnSpc>
              <a:buNone/>
            </a:pPr>
            <a:r>
              <a:rPr lang="hr-HR" sz="42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 recepte</a:t>
            </a:r>
            <a:endParaRPr lang="hr-HR" sz="4200" noProof="0" dirty="0"/>
          </a:p>
        </p:txBody>
      </p:sp>
      <p:sp>
        <p:nvSpPr>
          <p:cNvPr id="7" name="Text 4"/>
          <p:cNvSpPr/>
          <p:nvPr/>
        </p:nvSpPr>
        <p:spPr>
          <a:xfrm>
            <a:off x="6858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5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Sveučilišni prijediplomski studij: računarstvo</a:t>
            </a:r>
            <a:endParaRPr lang="hr-HR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6675120" y="48920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500"/>
              </a:lnSpc>
              <a:buNone/>
            </a:pPr>
            <a:r>
              <a:rPr lang="hr-HR" sz="1500" b="1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r>
              <a:rPr lang="hr-HR" sz="15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Antun Barčot</a:t>
            </a:r>
            <a:endParaRPr lang="hr-HR" sz="1500" noProof="0" dirty="0"/>
          </a:p>
          <a:p>
            <a:pPr marL="0" indent="0" algn="r">
              <a:lnSpc>
                <a:spcPts val="2500"/>
              </a:lnSpc>
              <a:buNone/>
            </a:pPr>
            <a:r>
              <a:rPr lang="hr-HR" sz="1500" b="1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r>
              <a:rPr lang="hr-HR" sz="15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sc. Vladan Papić</a:t>
            </a:r>
            <a:endParaRPr lang="hr-HR" sz="1500" noProof="0" dirty="0"/>
          </a:p>
          <a:p>
            <a:pPr marL="0" indent="0" algn="r">
              <a:lnSpc>
                <a:spcPts val="2500"/>
              </a:lnSpc>
              <a:buNone/>
            </a:pPr>
            <a:r>
              <a:rPr lang="hr-HR" sz="1500" i="1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26. kolovoza 2026.</a:t>
            </a:r>
            <a:endParaRPr lang="hr-HR" sz="1500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7A2069-EEDE-E4FB-5654-07FFD906D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6362700"/>
            <a:ext cx="1219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3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2131" y="762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Sadržaj prezentacije</a:t>
            </a:r>
            <a:endParaRPr lang="hr-HR" sz="3000" noProof="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hr-HR" sz="1000" noProof="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hr-HR" sz="1700" noProof="0" dirty="0"/>
          </a:p>
        </p:txBody>
      </p:sp>
      <p:sp>
        <p:nvSpPr>
          <p:cNvPr id="7" name="Text 4"/>
          <p:cNvSpPr/>
          <p:nvPr/>
        </p:nvSpPr>
        <p:spPr>
          <a:xfrm>
            <a:off x="160020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 završnog rada</a:t>
            </a:r>
            <a:endParaRPr lang="hr-HR" sz="1700" noProof="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hr-HR" sz="1700" noProof="0" dirty="0"/>
          </a:p>
        </p:txBody>
      </p:sp>
      <p:sp>
        <p:nvSpPr>
          <p:cNvPr id="10" name="Text 7"/>
          <p:cNvSpPr/>
          <p:nvPr/>
        </p:nvSpPr>
        <p:spPr>
          <a:xfrm>
            <a:off x="160020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Tehnologije i razvojni alati</a:t>
            </a:r>
            <a:endParaRPr lang="hr-HR" sz="1700" noProof="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2" name="Text 9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hr-HR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160020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sustava</a:t>
            </a:r>
            <a:endParaRPr lang="hr-HR" sz="1700" noProof="0" dirty="0"/>
          </a:p>
        </p:txBody>
      </p:sp>
      <p:sp>
        <p:nvSpPr>
          <p:cNvPr id="14" name="Shape 11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hr-HR" sz="1700" noProof="0" dirty="0"/>
          </a:p>
        </p:txBody>
      </p:sp>
      <p:sp>
        <p:nvSpPr>
          <p:cNvPr id="16" name="Text 13"/>
          <p:cNvSpPr/>
          <p:nvPr/>
        </p:nvSpPr>
        <p:spPr>
          <a:xfrm>
            <a:off x="1600200" y="5257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baze podataka</a:t>
            </a:r>
            <a:endParaRPr lang="hr-HR" sz="1700" noProof="0" dirty="0"/>
          </a:p>
        </p:txBody>
      </p:sp>
      <p:sp>
        <p:nvSpPr>
          <p:cNvPr id="17" name="Shape 14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8" name="Text 15"/>
          <p:cNvSpPr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hr-HR" sz="1700" noProof="0" dirty="0"/>
          </a:p>
        </p:txBody>
      </p:sp>
      <p:sp>
        <p:nvSpPr>
          <p:cNvPr id="19" name="Text 16"/>
          <p:cNvSpPr/>
          <p:nvPr/>
        </p:nvSpPr>
        <p:spPr>
          <a:xfrm>
            <a:off x="7269480" y="1828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Korisničko sučelje</a:t>
            </a:r>
            <a:endParaRPr lang="hr-HR" sz="1700" noProof="0" dirty="0"/>
          </a:p>
        </p:txBody>
      </p:sp>
      <p:sp>
        <p:nvSpPr>
          <p:cNvPr id="20" name="Shape 17"/>
          <p:cNvSpPr/>
          <p:nvPr/>
        </p:nvSpPr>
        <p:spPr>
          <a:xfrm>
            <a:off x="6492240" y="2971800"/>
            <a:ext cx="548640" cy="548640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21" name="Text 18"/>
          <p:cNvSpPr/>
          <p:nvPr/>
        </p:nvSpPr>
        <p:spPr>
          <a:xfrm>
            <a:off x="6492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hr-HR" sz="1700" noProof="0" dirty="0"/>
          </a:p>
        </p:txBody>
      </p:sp>
      <p:sp>
        <p:nvSpPr>
          <p:cNvPr id="22" name="Text 19"/>
          <p:cNvSpPr/>
          <p:nvPr/>
        </p:nvSpPr>
        <p:spPr>
          <a:xfrm>
            <a:off x="726948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Upravljanje favoritima</a:t>
            </a:r>
            <a:endParaRPr lang="hr-HR" sz="1700" noProof="0" dirty="0"/>
          </a:p>
        </p:txBody>
      </p:sp>
      <p:sp>
        <p:nvSpPr>
          <p:cNvPr id="23" name="Shape 20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24" name="Text 21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hr-HR" sz="1700" noProof="0" dirty="0"/>
          </a:p>
        </p:txBody>
      </p:sp>
      <p:sp>
        <p:nvSpPr>
          <p:cNvPr id="25" name="Text 22"/>
          <p:cNvSpPr/>
          <p:nvPr/>
        </p:nvSpPr>
        <p:spPr>
          <a:xfrm>
            <a:off x="726948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Autentikacija i sigurnost</a:t>
            </a:r>
            <a:endParaRPr lang="hr-HR" sz="1700" noProof="0" dirty="0"/>
          </a:p>
        </p:txBody>
      </p:sp>
      <p:sp>
        <p:nvSpPr>
          <p:cNvPr id="26" name="Shape 23"/>
          <p:cNvSpPr/>
          <p:nvPr/>
        </p:nvSpPr>
        <p:spPr>
          <a:xfrm>
            <a:off x="6492240" y="5257800"/>
            <a:ext cx="548640" cy="548640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27" name="Text 24"/>
          <p:cNvSpPr/>
          <p:nvPr/>
        </p:nvSpPr>
        <p:spPr>
          <a:xfrm>
            <a:off x="64922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hr-HR" sz="1700" noProof="0" dirty="0"/>
          </a:p>
        </p:txBody>
      </p:sp>
      <p:sp>
        <p:nvSpPr>
          <p:cNvPr id="28" name="Text 25"/>
          <p:cNvSpPr/>
          <p:nvPr/>
        </p:nvSpPr>
        <p:spPr>
          <a:xfrm>
            <a:off x="7269480" y="5257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noProof="0" dirty="0">
                <a:solidFill>
                  <a:srgbClr val="2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 i rezultati</a:t>
            </a:r>
            <a:endParaRPr lang="hr-HR" sz="1700" noProof="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ABBAD36-D341-08AF-9913-B1B4DB0A3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5080"/>
            <a:ext cx="1219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2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Zadatak završnog rada</a:t>
            </a:r>
            <a:endParaRPr lang="hr-HR" sz="300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hr-HR" sz="1000" dirty="0"/>
          </a:p>
        </p:txBody>
      </p:sp>
      <p:sp>
        <p:nvSpPr>
          <p:cNvPr id="5" name="Text 2"/>
          <p:cNvSpPr/>
          <p:nvPr/>
        </p:nvSpPr>
        <p:spPr>
          <a:xfrm>
            <a:off x="726440" y="1874520"/>
            <a:ext cx="6949440" cy="359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Razviti mobilnu aplikaciju za Android platformu namijenjenu pohrani i pretraživanju kulinarskih recepata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Omogućiti registraciju i prijavu korisnika pomoću e-mail adrese i lozinke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 se sastoji od tri osnovna dijela (taba): Recepti, Pretraga i Favoriti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Prikazati pojedinosti recepta: sastojke, vrijeme kuhanja, broj porcija i upute za pripremu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Klikom na ikonu srca korisnik dodaje i uklanja recepte iz vlastite zbirke favorita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Tehnologije: React Native i Expo, Node.js i Express.js, PostgreSQL i Clerk za autentikaciju</a:t>
            </a:r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endParaRPr lang="hr-HR" sz="1600" dirty="0"/>
          </a:p>
        </p:txBody>
      </p:sp>
      <p:pic>
        <p:nvPicPr>
          <p:cNvPr id="6" name="Image 1" descr="img/recep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1371600"/>
            <a:ext cx="2066544" cy="4343400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863840" y="5852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1: Početni ekran mobilne aplikacije</a:t>
            </a:r>
            <a:endParaRPr lang="hr-HR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6AAB63-40E9-4C2E-CA2C-67CEF115E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62700"/>
            <a:ext cx="1219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9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7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Tehnologije i razvojni alati</a:t>
            </a:r>
            <a:endParaRPr lang="hr-HR" sz="3000" noProof="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hr-HR" sz="1000" noProof="0" dirty="0"/>
          </a:p>
        </p:txBody>
      </p:sp>
      <p:sp>
        <p:nvSpPr>
          <p:cNvPr id="5" name="Shape 2"/>
          <p:cNvSpPr/>
          <p:nvPr/>
        </p:nvSpPr>
        <p:spPr>
          <a:xfrm>
            <a:off x="594360" y="146304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6" name="Shape 3"/>
          <p:cNvSpPr/>
          <p:nvPr/>
        </p:nvSpPr>
        <p:spPr>
          <a:xfrm>
            <a:off x="868680" y="1737360"/>
            <a:ext cx="566928" cy="566928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hr-HR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1618488" y="1737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hr-HR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1618488" y="219456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hr-HR" sz="13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– framework koji omogućuje jedinstvenu kodnu bazu za Android. Expo Router upravlja prelascima između ekrana i generira rute na temelju strukture mapa (app), a Reanimated izvršava animacije nativno kroz C++ module, bez opterećenja glavne JavaScript niti.</a:t>
            </a:r>
            <a:endParaRPr lang="hr-HR" sz="1300" noProof="0" dirty="0"/>
          </a:p>
        </p:txBody>
      </p:sp>
      <p:sp>
        <p:nvSpPr>
          <p:cNvPr id="10" name="Shape 7"/>
          <p:cNvSpPr/>
          <p:nvPr/>
        </p:nvSpPr>
        <p:spPr>
          <a:xfrm>
            <a:off x="6355080" y="146304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1" name="Shape 8"/>
          <p:cNvSpPr/>
          <p:nvPr/>
        </p:nvSpPr>
        <p:spPr>
          <a:xfrm>
            <a:off x="6629400" y="1737360"/>
            <a:ext cx="566928" cy="566928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2" name="Text 9"/>
          <p:cNvSpPr/>
          <p:nvPr/>
        </p:nvSpPr>
        <p:spPr>
          <a:xfrm>
            <a:off x="662940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hr-HR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7379208" y="1737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hr-HR" sz="1700" noProof="0" dirty="0"/>
          </a:p>
        </p:txBody>
      </p:sp>
      <p:sp>
        <p:nvSpPr>
          <p:cNvPr id="14" name="Text 11"/>
          <p:cNvSpPr/>
          <p:nvPr/>
        </p:nvSpPr>
        <p:spPr>
          <a:xfrm>
            <a:off x="7379208" y="2194560"/>
            <a:ext cx="393192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hr-HR" sz="13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obrađuje sve zahtjeve unutar jedne niti prema Event Loop modelu. Express.js definira REST API rute na lokalnom portu 5001, a posrednik express.json obrađuje dolazne zahtjeve i prevodi dolazne JSON pakete u JS objekte.</a:t>
            </a:r>
            <a:endParaRPr lang="hr-HR" sz="1300" noProof="0" dirty="0"/>
          </a:p>
        </p:txBody>
      </p:sp>
      <p:sp>
        <p:nvSpPr>
          <p:cNvPr id="15" name="Shape 12"/>
          <p:cNvSpPr/>
          <p:nvPr/>
        </p:nvSpPr>
        <p:spPr>
          <a:xfrm>
            <a:off x="594360" y="384048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6" name="Shape 13"/>
          <p:cNvSpPr/>
          <p:nvPr/>
        </p:nvSpPr>
        <p:spPr>
          <a:xfrm>
            <a:off x="868680" y="4114800"/>
            <a:ext cx="566928" cy="566928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7" name="Text 14"/>
          <p:cNvSpPr/>
          <p:nvPr/>
        </p:nvSpPr>
        <p:spPr>
          <a:xfrm>
            <a:off x="86868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hr-HR" sz="1700" noProof="0" dirty="0"/>
          </a:p>
        </p:txBody>
      </p:sp>
      <p:sp>
        <p:nvSpPr>
          <p:cNvPr id="18" name="Text 15"/>
          <p:cNvSpPr/>
          <p:nvPr/>
        </p:nvSpPr>
        <p:spPr>
          <a:xfrm>
            <a:off x="1618488" y="4114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Baza podataka</a:t>
            </a:r>
            <a:endParaRPr lang="hr-HR" sz="1700" noProof="0" dirty="0"/>
          </a:p>
        </p:txBody>
      </p:sp>
      <p:sp>
        <p:nvSpPr>
          <p:cNvPr id="19" name="Text 16"/>
          <p:cNvSpPr/>
          <p:nvPr/>
        </p:nvSpPr>
        <p:spPr>
          <a:xfrm>
            <a:off x="1618488" y="45720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hr-HR" sz="13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je postavljen lokalno i njime se upravlja kroz pgAdmin, uz punu podršku za ACID svojstva. Drizzle ORM prevodi JavaScript upite u SQL i definira shemu baze u kodu.</a:t>
            </a:r>
            <a:endParaRPr lang="hr-HR" sz="1300" noProof="0" dirty="0"/>
          </a:p>
        </p:txBody>
      </p:sp>
      <p:sp>
        <p:nvSpPr>
          <p:cNvPr id="20" name="Shape 17"/>
          <p:cNvSpPr/>
          <p:nvPr/>
        </p:nvSpPr>
        <p:spPr>
          <a:xfrm>
            <a:off x="6355080" y="384048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21" name="Shape 18"/>
          <p:cNvSpPr/>
          <p:nvPr/>
        </p:nvSpPr>
        <p:spPr>
          <a:xfrm>
            <a:off x="6629400" y="4114800"/>
            <a:ext cx="566928" cy="566928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22" name="Text 19"/>
          <p:cNvSpPr/>
          <p:nvPr/>
        </p:nvSpPr>
        <p:spPr>
          <a:xfrm>
            <a:off x="662940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7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hr-HR" sz="1700" noProof="0" dirty="0"/>
          </a:p>
        </p:txBody>
      </p:sp>
      <p:sp>
        <p:nvSpPr>
          <p:cNvPr id="23" name="Text 20"/>
          <p:cNvSpPr/>
          <p:nvPr/>
        </p:nvSpPr>
        <p:spPr>
          <a:xfrm>
            <a:off x="7379208" y="4114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Autentikacija</a:t>
            </a:r>
            <a:endParaRPr lang="hr-HR" sz="1700" noProof="0" dirty="0"/>
          </a:p>
        </p:txBody>
      </p:sp>
      <p:sp>
        <p:nvSpPr>
          <p:cNvPr id="24" name="Text 21"/>
          <p:cNvSpPr/>
          <p:nvPr/>
        </p:nvSpPr>
        <p:spPr>
          <a:xfrm>
            <a:off x="7379208" y="45720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hr-HR" sz="13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je vanjski servis za upravljanje korisničkim identitetima, integriran paketom @clerk/clerk-expo. Upravlja sesijama putem kriptiranih tokena i jednokratnih verifikacijskih kodova.</a:t>
            </a:r>
            <a:endParaRPr lang="hr-HR" sz="1300" noProof="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7AA0F8-D0BE-5F23-F0D4-47AE38B65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2700"/>
            <a:ext cx="1219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5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25CC193-FD69-4008-B91B-EEF6C241AE08}"/>
              </a:ext>
            </a:extLst>
          </p:cNvPr>
          <p:cNvSpPr/>
          <p:nvPr/>
        </p:nvSpPr>
        <p:spPr>
          <a:xfrm>
            <a:off x="7188200" y="1422400"/>
            <a:ext cx="4521200" cy="416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6D0C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hr-HR" noProof="0" dirty="0"/>
          </a:p>
        </p:txBody>
      </p:sp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Arhitektura sustava i tok podataka</a:t>
            </a:r>
            <a:endParaRPr lang="hr-HR" sz="3000" noProof="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hr-HR" sz="1000" noProof="0" dirty="0"/>
          </a:p>
        </p:txBody>
      </p:sp>
      <p:sp>
        <p:nvSpPr>
          <p:cNvPr id="5" name="Shape 2"/>
          <p:cNvSpPr/>
          <p:nvPr/>
        </p:nvSpPr>
        <p:spPr>
          <a:xfrm>
            <a:off x="594360" y="1618488"/>
            <a:ext cx="502920" cy="502920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6" name="Text 3"/>
          <p:cNvSpPr/>
          <p:nvPr/>
        </p:nvSpPr>
        <p:spPr>
          <a:xfrm>
            <a:off x="59436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hr-HR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1219200" y="167792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Inicijacija zahtjeva (Frontend)</a:t>
            </a:r>
            <a:endParaRPr lang="hr-HR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1219200" y="193395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hr-HR" sz="14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izvrši akciju, aplikacija šalje asinkroni HTTP zahtjev metodom fetch prema lokalnoj IP adresi pozadinskog poslužitelja.</a:t>
            </a:r>
            <a:endParaRPr lang="hr-HR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594360" y="2807208"/>
            <a:ext cx="502920" cy="502920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0" name="Text 7"/>
          <p:cNvSpPr/>
          <p:nvPr/>
        </p:nvSpPr>
        <p:spPr>
          <a:xfrm>
            <a:off x="59436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hr-HR" sz="1500" noProof="0" dirty="0"/>
          </a:p>
        </p:txBody>
      </p:sp>
      <p:sp>
        <p:nvSpPr>
          <p:cNvPr id="11" name="Text 8"/>
          <p:cNvSpPr/>
          <p:nvPr/>
        </p:nvSpPr>
        <p:spPr>
          <a:xfrm>
            <a:off x="1219200" y="287731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Obrada i usmjeravanje (Backend)</a:t>
            </a:r>
            <a:endParaRPr lang="hr-HR" sz="1700" noProof="0" dirty="0"/>
          </a:p>
        </p:txBody>
      </p:sp>
      <p:sp>
        <p:nvSpPr>
          <p:cNvPr id="12" name="Text 9"/>
          <p:cNvSpPr/>
          <p:nvPr/>
        </p:nvSpPr>
        <p:spPr>
          <a:xfrm>
            <a:off x="1219200" y="300837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hr-HR" sz="14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prima zahtjev, a Express.js ga preko definiranih API ruta prepoznaje.</a:t>
            </a:r>
            <a:endParaRPr lang="hr-HR" sz="1400" noProof="0" dirty="0"/>
          </a:p>
        </p:txBody>
      </p:sp>
      <p:sp>
        <p:nvSpPr>
          <p:cNvPr id="13" name="Shape 10"/>
          <p:cNvSpPr/>
          <p:nvPr/>
        </p:nvSpPr>
        <p:spPr>
          <a:xfrm>
            <a:off x="594360" y="3995928"/>
            <a:ext cx="502920" cy="502920"/>
          </a:xfrm>
          <a:prstGeom prst="ellipse">
            <a:avLst/>
          </a:prstGeom>
          <a:solidFill>
            <a:srgbClr val="54A021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4" name="Text 11"/>
          <p:cNvSpPr/>
          <p:nvPr/>
        </p:nvSpPr>
        <p:spPr>
          <a:xfrm>
            <a:off x="59436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hr-HR" sz="1500" noProof="0" dirty="0"/>
          </a:p>
        </p:txBody>
      </p:sp>
      <p:sp>
        <p:nvSpPr>
          <p:cNvPr id="15" name="Text 12"/>
          <p:cNvSpPr/>
          <p:nvPr/>
        </p:nvSpPr>
        <p:spPr>
          <a:xfrm>
            <a:off x="1219200" y="407517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Komunikacija s bazom</a:t>
            </a:r>
            <a:endParaRPr lang="hr-HR" sz="1700" noProof="0" dirty="0"/>
          </a:p>
        </p:txBody>
      </p:sp>
      <p:sp>
        <p:nvSpPr>
          <p:cNvPr id="16" name="Text 13"/>
          <p:cNvSpPr/>
          <p:nvPr/>
        </p:nvSpPr>
        <p:spPr>
          <a:xfrm>
            <a:off x="1219200" y="424281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hr-HR" sz="14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prevodi JavaScript logiku u SQL i izvršava upit nad PostgreSQL bazom.</a:t>
            </a:r>
            <a:endParaRPr lang="hr-HR" sz="1400" noProof="0" dirty="0"/>
          </a:p>
        </p:txBody>
      </p:sp>
      <p:sp>
        <p:nvSpPr>
          <p:cNvPr id="17" name="Shape 14"/>
          <p:cNvSpPr/>
          <p:nvPr/>
        </p:nvSpPr>
        <p:spPr>
          <a:xfrm>
            <a:off x="594360" y="5184648"/>
            <a:ext cx="502920" cy="502920"/>
          </a:xfrm>
          <a:prstGeom prst="ellipse">
            <a:avLst/>
          </a:prstGeom>
          <a:solidFill>
            <a:srgbClr val="90C226"/>
          </a:solidFill>
          <a:ln/>
        </p:spPr>
        <p:txBody>
          <a:bodyPr/>
          <a:lstStyle/>
          <a:p>
            <a:endParaRPr lang="hr-HR" noProof="0" dirty="0"/>
          </a:p>
        </p:txBody>
      </p:sp>
      <p:sp>
        <p:nvSpPr>
          <p:cNvPr id="18" name="Text 15"/>
          <p:cNvSpPr/>
          <p:nvPr/>
        </p:nvSpPr>
        <p:spPr>
          <a:xfrm>
            <a:off x="59436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hr-HR" sz="1500" noProof="0" dirty="0"/>
          </a:p>
        </p:txBody>
      </p:sp>
      <p:sp>
        <p:nvSpPr>
          <p:cNvPr id="19" name="Text 16"/>
          <p:cNvSpPr/>
          <p:nvPr/>
        </p:nvSpPr>
        <p:spPr>
          <a:xfrm>
            <a:off x="1219200" y="526389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7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Odgovor klijentu</a:t>
            </a:r>
            <a:endParaRPr lang="hr-HR" sz="1700" noProof="0" dirty="0"/>
          </a:p>
        </p:txBody>
      </p:sp>
      <p:sp>
        <p:nvSpPr>
          <p:cNvPr id="20" name="Text 17"/>
          <p:cNvSpPr/>
          <p:nvPr/>
        </p:nvSpPr>
        <p:spPr>
          <a:xfrm>
            <a:off x="1219200" y="54635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hr-HR" sz="14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vraća tražene podatke backendu. On ih oblikuje u JSON format i šalje ih natrag mobilnoj aplikaciji (status 200), koja onda ažurira stanje na ekranu.</a:t>
            </a:r>
            <a:endParaRPr lang="hr-HR" sz="1400" noProof="0" dirty="0"/>
          </a:p>
        </p:txBody>
      </p:sp>
      <p:sp>
        <p:nvSpPr>
          <p:cNvPr id="22" name="Text 18"/>
          <p:cNvSpPr/>
          <p:nvPr/>
        </p:nvSpPr>
        <p:spPr>
          <a:xfrm>
            <a:off x="7340600" y="4840618"/>
            <a:ext cx="421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2: Provjera je li recept spremljen u favorite</a:t>
            </a:r>
            <a:endParaRPr lang="hr-HR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9E555E-32E8-63DE-4611-580A8E625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62700"/>
            <a:ext cx="1219200" cy="495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58B51ED-6554-36C5-0CC2-68D717A426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465"/>
          <a:stretch>
            <a:fillRect/>
          </a:stretch>
        </p:blipFill>
        <p:spPr>
          <a:xfrm>
            <a:off x="7239000" y="3008376"/>
            <a:ext cx="4470400" cy="17103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542EBC-E3AD-1B56-DC32-89CD37949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260" y="1873822"/>
            <a:ext cx="923530" cy="8927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E2AD9C3-8496-262B-336F-E9D1536334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517396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noProof="0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baze podataka</a:t>
            </a:r>
            <a:endParaRPr lang="hr-HR" sz="3000" noProof="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hr-HR" sz="1000" noProof="0" dirty="0"/>
          </a:p>
        </p:txBody>
      </p:sp>
      <p:pic>
        <p:nvPicPr>
          <p:cNvPr id="8" name="Image 2" descr="img/relacij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37360"/>
            <a:ext cx="6017895" cy="4279392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355080" y="60167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noProof="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3: Relacijski dijagram baze podataka</a:t>
            </a:r>
            <a:endParaRPr lang="hr-HR" sz="11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CF1AA1-5728-B5D9-86F5-4F49BEEE8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73622"/>
            <a:ext cx="1219200" cy="495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AF9729-2F70-5FFF-38C7-70930E37EBCD}"/>
              </a:ext>
            </a:extLst>
          </p:cNvPr>
          <p:cNvSpPr txBox="1"/>
          <p:nvPr/>
        </p:nvSpPr>
        <p:spPr>
          <a:xfrm>
            <a:off x="93345" y="2022146"/>
            <a:ext cx="6164980" cy="571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hr-HR" sz="1600" b="0" i="0" u="none" strike="noStrike" kern="1200" cap="none" spc="0" normalizeH="0" baseline="0" noProof="0" dirty="0">
                <a:ln>
                  <a:noFill/>
                </a:ln>
                <a:solidFill>
                  <a:srgbClr val="3F453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Relacijski model čini šest tablica: areas, categories</a:t>
            </a:r>
            <a:r>
              <a:rPr lang="hr-HR" sz="16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ingredients, recipes, recipes_ingredients i favorites</a:t>
            </a: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hr-HR" sz="16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 opisan Drizzle-ovom sintaksom u JavaScriptu u datoteci schema.js</a:t>
            </a: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hr-HR" sz="16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Naredba drizzle-kit generate generira CREATE TABLE naredbe, a drizzle-kit migrate ih izvršava nad PostgreSQL-om</a:t>
            </a: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r>
              <a:rPr lang="hr-HR" sz="16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Prazne tablice u bazi podataka popunjene su podacima preuzetim s javnog servisa TheMealDb pokretanjem skripte seed.js</a:t>
            </a: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lang="hr-HR" sz="1600" noProof="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lang="hr-HR" sz="1600" noProof="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lang="hr-HR" sz="1600" noProof="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lang="hr-HR" sz="1600" noProof="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lang="hr-HR" sz="1600" noProof="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lang="hr-HR" sz="1600" noProof="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1100"/>
              </a:spcAft>
              <a:buClrTx/>
              <a:buSzPct val="100000"/>
              <a:buFontTx/>
              <a:buChar char="▪"/>
              <a:tabLst/>
              <a:defRPr/>
            </a:pPr>
            <a:endParaRPr kumimoji="0" lang="hr-H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15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Korisničko sučelje aplikacije</a:t>
            </a:r>
            <a:endParaRPr lang="hr-HR" sz="300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hr-HR" sz="1000" dirty="0"/>
          </a:p>
        </p:txBody>
      </p:sp>
      <p:sp>
        <p:nvSpPr>
          <p:cNvPr id="5" name="Text 2"/>
          <p:cNvSpPr/>
          <p:nvPr/>
        </p:nvSpPr>
        <p:spPr>
          <a:xfrm>
            <a:off x="609600" y="1928876"/>
            <a:ext cx="5943600" cy="3935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Početni ekran nudi horizontalni izbornik s pet kategorija jela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na karticu jela otvara pojedinosti: fotografija, vrijeme kuhanja, broj porcija, sastojke s mjernim jedinicama i upute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za pretragu filtrira recepte u stvarnom vremenu, neovisno o velikim i malim slovima (funkcija ilike)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Biblioteka Reanimated omogućava fluidne animacije – koncept radnih niti </a:t>
            </a:r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FontTx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Navigacija je izvedena Expo </a:t>
            </a:r>
            <a:r>
              <a:rPr lang="hr-HR" sz="1600" dirty="0" err="1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Routerom</a:t>
            </a: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temeljena na strukturi mapa i datoteka, smanjena količina koda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endParaRPr lang="hr-HR" sz="160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endParaRPr lang="hr-HR" sz="160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endParaRPr lang="hr-HR" sz="1600" dirty="0"/>
          </a:p>
        </p:txBody>
      </p:sp>
      <p:pic>
        <p:nvPicPr>
          <p:cNvPr id="6" name="Image 1" descr="img/detal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71600"/>
            <a:ext cx="2002536" cy="4206240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766560" y="5687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3: Stranica pojedinosti jela</a:t>
            </a:r>
            <a:endParaRPr lang="hr-HR" sz="1100" dirty="0"/>
          </a:p>
        </p:txBody>
      </p:sp>
      <p:pic>
        <p:nvPicPr>
          <p:cNvPr id="8" name="Image 2" descr="img/pretrag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371600"/>
            <a:ext cx="2002536" cy="4206240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9235440" y="5687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4: Ekran za pretragu recepata</a:t>
            </a:r>
            <a:endParaRPr lang="hr-HR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0EC490-D237-FAFC-F12A-084562F9C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70320"/>
            <a:ext cx="1219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93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Upravljanje favoritima</a:t>
            </a:r>
            <a:endParaRPr lang="hr-HR" sz="300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hr-HR" sz="1000" dirty="0"/>
          </a:p>
        </p:txBody>
      </p:sp>
      <p:sp>
        <p:nvSpPr>
          <p:cNvPr id="5" name="Text 2"/>
          <p:cNvSpPr/>
          <p:nvPr/>
        </p:nvSpPr>
        <p:spPr>
          <a:xfrm>
            <a:off x="563440" y="1182709"/>
            <a:ext cx="7199013" cy="253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Prijavljeni korisnik ima svoj userId pomoću kojeg se favoriti povezuju uz njegov račun </a:t>
            </a:r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POST /api/favorites šalje HTTP zahtjev backendu i sprema odabrani recept u korisnikovu zbirku</a:t>
            </a:r>
            <a:endParaRPr lang="hr-HR" sz="1600" dirty="0"/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/api/favorites/:userId/:recipeId uklanja recept iz zbirke</a:t>
            </a:r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/api/favorites/:userId  dohvaća favorite prijavljenog korisnika</a:t>
            </a:r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 ikona srca služi za dodavanje i za uklanjanje recepta</a:t>
            </a:r>
            <a:endParaRPr lang="hr-HR" sz="1600" dirty="0"/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favorita sinkronizira prikaz sa stanjem u bazi podataka</a:t>
            </a:r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endParaRPr lang="hr-HR" sz="1500" dirty="0">
              <a:solidFill>
                <a:srgbClr val="3F45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025"/>
              </a:lnSpc>
              <a:spcAft>
                <a:spcPts val="1100"/>
              </a:spcAft>
              <a:buSzPct val="100000"/>
              <a:buChar char="▪"/>
            </a:pPr>
            <a:endParaRPr lang="hr-HR" sz="1500" dirty="0"/>
          </a:p>
        </p:txBody>
      </p:sp>
      <p:sp>
        <p:nvSpPr>
          <p:cNvPr id="7" name="Text 3"/>
          <p:cNvSpPr/>
          <p:nvPr/>
        </p:nvSpPr>
        <p:spPr>
          <a:xfrm>
            <a:off x="1847358" y="598936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5: Tablica „favorites”</a:t>
            </a:r>
            <a:endParaRPr lang="hr-HR" sz="1100" dirty="0"/>
          </a:p>
        </p:txBody>
      </p:sp>
      <p:pic>
        <p:nvPicPr>
          <p:cNvPr id="8" name="Image 2" descr="img/fav_li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407" y="1182709"/>
            <a:ext cx="2093976" cy="4480560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8220995" y="5833913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6: Stranica omiljenih recepata</a:t>
            </a:r>
            <a:endParaRPr lang="hr-HR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297898-F567-BC7D-2ADE-A30C3EAF9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62700"/>
            <a:ext cx="1219200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08B76E-3845-AFA3-AE33-326FE0ADD3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502"/>
          <a:stretch>
            <a:fillRect/>
          </a:stretch>
        </p:blipFill>
        <p:spPr>
          <a:xfrm>
            <a:off x="674259" y="4009536"/>
            <a:ext cx="8154110" cy="206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1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Autentikacija i sigurnost</a:t>
            </a:r>
            <a:endParaRPr lang="hr-HR" sz="300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hr-HR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1974769"/>
            <a:ext cx="7568128" cy="327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Autentikacija je povjerena servisu Clerk, specijaliziranoj platformi za upravljanje korisničkim identitetima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Registracija se odvija u dva koraka: unos e-mail adrese i lozinke, zatim potvrda računa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automatski šalje jednokratni šesteroznamenkasti kod (OTP) na unesenu adresu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uspješne verifikacije uređaj pohranjuje </a:t>
            </a:r>
            <a:r>
              <a:rPr lang="hr-HR" sz="1600" noProof="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kriptirane</a:t>
            </a: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tokene koji dokazuju identitet korisnika</a:t>
            </a:r>
            <a:endParaRPr lang="hr-HR" sz="1600" dirty="0"/>
          </a:p>
          <a:p>
            <a:pPr marL="342900" indent="-342900">
              <a:lnSpc>
                <a:spcPts val="2160"/>
              </a:lnSpc>
              <a:spcAft>
                <a:spcPts val="1100"/>
              </a:spcAft>
              <a:buSzPct val="100000"/>
              <a:buChar char="▪"/>
            </a:pPr>
            <a:r>
              <a:rPr lang="hr-HR" sz="1600" dirty="0">
                <a:solidFill>
                  <a:srgbClr val="3F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Jedinstveni Clerkov identifikator Express zapisuje u stupac user_id tablice favorites</a:t>
            </a:r>
            <a:endParaRPr lang="hr-HR" sz="1600" dirty="0"/>
          </a:p>
        </p:txBody>
      </p:sp>
      <p:pic>
        <p:nvPicPr>
          <p:cNvPr id="6" name="Image 1" descr="img/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1371600"/>
            <a:ext cx="2066544" cy="4343400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863840" y="5852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7: Ekran za potvrdu e-mail adrese</a:t>
            </a:r>
            <a:endParaRPr lang="hr-HR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DECC00-705C-18E0-3740-CEC9FF189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62700"/>
            <a:ext cx="1219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4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2B3A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Zaključak i rezultati</a:t>
            </a:r>
            <a:endParaRPr lang="hr-HR" sz="3000" dirty="0"/>
          </a:p>
        </p:txBody>
      </p:sp>
      <p:sp>
        <p:nvSpPr>
          <p:cNvPr id="4" name="Text 1"/>
          <p:cNvSpPr/>
          <p:nvPr/>
        </p:nvSpPr>
        <p:spPr>
          <a:xfrm>
            <a:off x="112014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1000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hr-HR" sz="1000" dirty="0"/>
          </a:p>
        </p:txBody>
      </p:sp>
      <p:pic>
        <p:nvPicPr>
          <p:cNvPr id="6" name="Image 1" descr="img/pretraga_re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71600"/>
            <a:ext cx="2029968" cy="4343400"/>
          </a:xfrm>
          <a:prstGeom prst="rect">
            <a:avLst/>
          </a:prstGeom>
          <a:effectLst>
            <a:outerShdw blurRad="127000" dist="38100" dir="5400000" algn="bl" rotWithShape="0">
              <a:srgbClr val="9AA88C">
                <a:alpha val="4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863840" y="58521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i="1" dirty="0">
                <a:solidFill>
                  <a:srgbClr val="7C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Slika 8: Primjer pretraživanja recepta</a:t>
            </a:r>
            <a:endParaRPr lang="hr-HR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15BA15-6BB9-6D2F-4EC4-395DA3E9D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55080"/>
            <a:ext cx="1219200" cy="495300"/>
          </a:xfrm>
          <a:prstGeom prst="rect">
            <a:avLst/>
          </a:prstGeom>
        </p:spPr>
      </p:pic>
      <p:sp>
        <p:nvSpPr>
          <p:cNvPr id="30" name="Shape 30"/>
          <p:cNvSpPr/>
          <p:nvPr/>
        </p:nvSpPr>
        <p:spPr>
          <a:xfrm>
            <a:off x="596900" y="1371600"/>
            <a:ext cx="1651000" cy="1092200"/>
          </a:xfrm>
          <a:prstGeom prst="roundRect">
            <a:avLst>
              <a:gd name="adj" fmla="val 6207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dirty="0"/>
          </a:p>
        </p:txBody>
      </p:sp>
      <p:sp>
        <p:nvSpPr>
          <p:cNvPr id="31" name="Text 31"/>
          <p:cNvSpPr/>
          <p:nvPr/>
        </p:nvSpPr>
        <p:spPr>
          <a:xfrm>
            <a:off x="596900" y="1422400"/>
            <a:ext cx="165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2200" b="1" dirty="0">
                <a:solidFill>
                  <a:srgbClr val="54A021"/>
                </a:solidFill>
                <a:latin typeface="Trebuchet MS" pitchFamily="34" charset="0"/>
                <a:cs typeface="Trebuchet MS" pitchFamily="34" charset="0"/>
              </a:rPr>
              <a:t>1</a:t>
            </a:r>
          </a:p>
        </p:txBody>
      </p:sp>
      <p:sp>
        <p:nvSpPr>
          <p:cNvPr id="32" name="Text 32"/>
          <p:cNvSpPr/>
          <p:nvPr/>
        </p:nvSpPr>
        <p:spPr>
          <a:xfrm>
            <a:off x="673100" y="2006600"/>
            <a:ext cx="149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00" dirty="0">
                <a:solidFill>
                  <a:srgbClr val="7C8570"/>
                </a:solidFill>
                <a:latin typeface="Calibri" pitchFamily="34" charset="0"/>
                <a:cs typeface="Calibri" pitchFamily="34" charset="0"/>
              </a:rPr>
              <a:t>kodna baza</a:t>
            </a:r>
          </a:p>
        </p:txBody>
      </p:sp>
      <p:sp>
        <p:nvSpPr>
          <p:cNvPr id="33" name="Shape 33"/>
          <p:cNvSpPr/>
          <p:nvPr/>
        </p:nvSpPr>
        <p:spPr>
          <a:xfrm>
            <a:off x="2362200" y="1371600"/>
            <a:ext cx="1651000" cy="1092200"/>
          </a:xfrm>
          <a:prstGeom prst="roundRect">
            <a:avLst>
              <a:gd name="adj" fmla="val 6207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dirty="0"/>
          </a:p>
        </p:txBody>
      </p:sp>
      <p:sp>
        <p:nvSpPr>
          <p:cNvPr id="34" name="Text 34"/>
          <p:cNvSpPr/>
          <p:nvPr/>
        </p:nvSpPr>
        <p:spPr>
          <a:xfrm>
            <a:off x="2362200" y="1422400"/>
            <a:ext cx="165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2200" b="1" dirty="0">
                <a:solidFill>
                  <a:srgbClr val="54A021"/>
                </a:solidFill>
                <a:latin typeface="Trebuchet MS" pitchFamily="34" charset="0"/>
                <a:cs typeface="Trebuchet MS" pitchFamily="34" charset="0"/>
              </a:rPr>
              <a:t>3</a:t>
            </a:r>
          </a:p>
        </p:txBody>
      </p:sp>
      <p:sp>
        <p:nvSpPr>
          <p:cNvPr id="35" name="Text 35"/>
          <p:cNvSpPr/>
          <p:nvPr/>
        </p:nvSpPr>
        <p:spPr>
          <a:xfrm>
            <a:off x="2438400" y="2006600"/>
            <a:ext cx="149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00" dirty="0">
                <a:solidFill>
                  <a:srgbClr val="7C8570"/>
                </a:solidFill>
                <a:latin typeface="Calibri" pitchFamily="34" charset="0"/>
                <a:cs typeface="Calibri" pitchFamily="34" charset="0"/>
              </a:rPr>
              <a:t>glavna ekrana</a:t>
            </a:r>
          </a:p>
        </p:txBody>
      </p:sp>
      <p:sp>
        <p:nvSpPr>
          <p:cNvPr id="36" name="Shape 36"/>
          <p:cNvSpPr/>
          <p:nvPr/>
        </p:nvSpPr>
        <p:spPr>
          <a:xfrm>
            <a:off x="4127500" y="1371600"/>
            <a:ext cx="1651000" cy="1092200"/>
          </a:xfrm>
          <a:prstGeom prst="roundRect">
            <a:avLst>
              <a:gd name="adj" fmla="val 6207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dirty="0"/>
          </a:p>
        </p:txBody>
      </p:sp>
      <p:sp>
        <p:nvSpPr>
          <p:cNvPr id="37" name="Text 37"/>
          <p:cNvSpPr/>
          <p:nvPr/>
        </p:nvSpPr>
        <p:spPr>
          <a:xfrm>
            <a:off x="4127500" y="1422400"/>
            <a:ext cx="165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2200" b="1" dirty="0">
                <a:solidFill>
                  <a:srgbClr val="54A021"/>
                </a:solidFill>
                <a:latin typeface="Trebuchet MS" pitchFamily="34" charset="0"/>
                <a:cs typeface="Trebuchet MS" pitchFamily="34" charset="0"/>
              </a:rPr>
              <a:t>5</a:t>
            </a:r>
          </a:p>
        </p:txBody>
      </p:sp>
      <p:sp>
        <p:nvSpPr>
          <p:cNvPr id="38" name="Text 38"/>
          <p:cNvSpPr/>
          <p:nvPr/>
        </p:nvSpPr>
        <p:spPr>
          <a:xfrm>
            <a:off x="4203700" y="2006600"/>
            <a:ext cx="149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00" dirty="0">
                <a:solidFill>
                  <a:srgbClr val="7C8570"/>
                </a:solidFill>
                <a:latin typeface="Calibri" pitchFamily="34" charset="0"/>
                <a:cs typeface="Calibri" pitchFamily="34" charset="0"/>
              </a:rPr>
              <a:t>kategorije jela</a:t>
            </a:r>
          </a:p>
        </p:txBody>
      </p:sp>
      <p:sp>
        <p:nvSpPr>
          <p:cNvPr id="39" name="Shape 39"/>
          <p:cNvSpPr/>
          <p:nvPr/>
        </p:nvSpPr>
        <p:spPr>
          <a:xfrm>
            <a:off x="5892800" y="1371600"/>
            <a:ext cx="1651000" cy="1092200"/>
          </a:xfrm>
          <a:prstGeom prst="roundRect">
            <a:avLst>
              <a:gd name="adj" fmla="val 6207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dirty="0"/>
          </a:p>
        </p:txBody>
      </p:sp>
      <p:sp>
        <p:nvSpPr>
          <p:cNvPr id="40" name="Text 40"/>
          <p:cNvSpPr/>
          <p:nvPr/>
        </p:nvSpPr>
        <p:spPr>
          <a:xfrm>
            <a:off x="5892800" y="1422400"/>
            <a:ext cx="1651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2200" b="1" dirty="0">
                <a:solidFill>
                  <a:srgbClr val="54A021"/>
                </a:solidFill>
                <a:latin typeface="Trebuchet MS" pitchFamily="34" charset="0"/>
                <a:cs typeface="Trebuchet MS" pitchFamily="34" charset="0"/>
              </a:rPr>
              <a:t>6</a:t>
            </a:r>
          </a:p>
        </p:txBody>
      </p:sp>
      <p:sp>
        <p:nvSpPr>
          <p:cNvPr id="41" name="Text 41"/>
          <p:cNvSpPr/>
          <p:nvPr/>
        </p:nvSpPr>
        <p:spPr>
          <a:xfrm>
            <a:off x="5969000" y="2006600"/>
            <a:ext cx="1498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00" dirty="0">
                <a:solidFill>
                  <a:srgbClr val="7C8570"/>
                </a:solidFill>
                <a:latin typeface="Calibri" pitchFamily="34" charset="0"/>
                <a:cs typeface="Calibri" pitchFamily="34" charset="0"/>
              </a:rPr>
              <a:t>tablice u bazi</a:t>
            </a:r>
          </a:p>
        </p:txBody>
      </p:sp>
      <p:sp>
        <p:nvSpPr>
          <p:cNvPr id="42" name="Shape 42"/>
          <p:cNvSpPr/>
          <p:nvPr/>
        </p:nvSpPr>
        <p:spPr>
          <a:xfrm>
            <a:off x="596900" y="2540000"/>
            <a:ext cx="6946900" cy="1905000"/>
          </a:xfrm>
          <a:prstGeom prst="roundRect">
            <a:avLst>
              <a:gd name="adj" fmla="val 6207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dirty="0"/>
          </a:p>
        </p:txBody>
      </p:sp>
      <p:sp>
        <p:nvSpPr>
          <p:cNvPr id="43" name="Text 43"/>
          <p:cNvSpPr/>
          <p:nvPr/>
        </p:nvSpPr>
        <p:spPr>
          <a:xfrm>
            <a:off x="965200" y="26924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800" b="1" dirty="0">
                <a:solidFill>
                  <a:srgbClr val="2B3A1B"/>
                </a:solidFill>
                <a:latin typeface="Trebuchet MS" pitchFamily="34" charset="0"/>
                <a:cs typeface="Trebuchet MS" pitchFamily="34" charset="0"/>
              </a:rPr>
              <a:t>Rezultati testiranja</a:t>
            </a:r>
          </a:p>
        </p:txBody>
      </p:sp>
      <p:sp>
        <p:nvSpPr>
          <p:cNvPr id="44" name="Text 44"/>
          <p:cNvSpPr/>
          <p:nvPr/>
        </p:nvSpPr>
        <p:spPr>
          <a:xfrm>
            <a:off x="965200" y="3124200"/>
            <a:ext cx="6223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3"/>
              </a:lnSpc>
              <a:spcAft>
                <a:spcPts val="700"/>
              </a:spcAft>
              <a:buSzPct val="100000"/>
              <a:buChar char="▪"/>
            </a:pPr>
            <a:r>
              <a:rPr lang="hr-HR" sz="1350" dirty="0">
                <a:solidFill>
                  <a:srgbClr val="3F4536"/>
                </a:solidFill>
                <a:latin typeface="Calibri" pitchFamily="34" charset="0"/>
                <a:cs typeface="Calibri" pitchFamily="34" charset="0"/>
              </a:rPr>
              <a:t>Testirano u Android Studiju na emulatoru Pixel 8</a:t>
            </a:r>
          </a:p>
          <a:p>
            <a:pPr marL="342900" indent="-342900">
              <a:lnSpc>
                <a:spcPts val="1823"/>
              </a:lnSpc>
              <a:spcAft>
                <a:spcPts val="700"/>
              </a:spcAft>
              <a:buSzPct val="100000"/>
              <a:buChar char="▪"/>
            </a:pPr>
            <a:r>
              <a:rPr lang="hr-HR" sz="1350" dirty="0">
                <a:solidFill>
                  <a:srgbClr val="3F4536"/>
                </a:solidFill>
                <a:latin typeface="Calibri" pitchFamily="34" charset="0"/>
                <a:cs typeface="Calibri" pitchFamily="34" charset="0"/>
              </a:rPr>
              <a:t>Pretraga, prijava i favoriti rade prema očekivanju</a:t>
            </a:r>
          </a:p>
          <a:p>
            <a:pPr marL="342900" indent="-342900">
              <a:lnSpc>
                <a:spcPts val="1823"/>
              </a:lnSpc>
              <a:spcAft>
                <a:spcPts val="700"/>
              </a:spcAft>
              <a:buSzPct val="100000"/>
              <a:buChar char="▪"/>
            </a:pPr>
            <a:r>
              <a:rPr lang="hr-HR" sz="1350" dirty="0">
                <a:solidFill>
                  <a:srgbClr val="3F4536"/>
                </a:solidFill>
                <a:latin typeface="Calibri" pitchFamily="34" charset="0"/>
                <a:cs typeface="Calibri" pitchFamily="34" charset="0"/>
              </a:rPr>
              <a:t>Kaskadno brisanje potvrđeno na spojnoj tablici</a:t>
            </a:r>
          </a:p>
        </p:txBody>
      </p:sp>
      <p:sp>
        <p:nvSpPr>
          <p:cNvPr id="45" name="Shape 45"/>
          <p:cNvSpPr/>
          <p:nvPr/>
        </p:nvSpPr>
        <p:spPr>
          <a:xfrm>
            <a:off x="596900" y="4597400"/>
            <a:ext cx="6946900" cy="1498600"/>
          </a:xfrm>
          <a:prstGeom prst="roundRect">
            <a:avLst>
              <a:gd name="adj" fmla="val 6207"/>
            </a:avLst>
          </a:prstGeom>
          <a:solidFill>
            <a:srgbClr val="F3F8E9"/>
          </a:solidFill>
          <a:ln/>
        </p:spPr>
        <p:txBody>
          <a:bodyPr/>
          <a:lstStyle/>
          <a:p>
            <a:endParaRPr lang="hr-HR" dirty="0"/>
          </a:p>
        </p:txBody>
      </p:sp>
      <p:sp>
        <p:nvSpPr>
          <p:cNvPr id="46" name="Text 46"/>
          <p:cNvSpPr/>
          <p:nvPr/>
        </p:nvSpPr>
        <p:spPr>
          <a:xfrm>
            <a:off x="965200" y="4749800"/>
            <a:ext cx="622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800" b="1" dirty="0">
                <a:solidFill>
                  <a:srgbClr val="2B3A1B"/>
                </a:solidFill>
                <a:latin typeface="Trebuchet MS" pitchFamily="34" charset="0"/>
                <a:cs typeface="Trebuchet MS" pitchFamily="34" charset="0"/>
              </a:rPr>
              <a:t>Zaključak i moguća proširenja</a:t>
            </a:r>
          </a:p>
        </p:txBody>
      </p:sp>
      <p:sp>
        <p:nvSpPr>
          <p:cNvPr id="47" name="Text 47"/>
          <p:cNvSpPr/>
          <p:nvPr/>
        </p:nvSpPr>
        <p:spPr>
          <a:xfrm>
            <a:off x="965200" y="5181600"/>
            <a:ext cx="6223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23"/>
              </a:lnSpc>
              <a:spcAft>
                <a:spcPts val="700"/>
              </a:spcAft>
              <a:buSzPct val="100000"/>
              <a:buChar char="▪"/>
            </a:pPr>
            <a:r>
              <a:rPr lang="hr-HR" sz="1350" dirty="0">
                <a:solidFill>
                  <a:srgbClr val="3F4536"/>
                </a:solidFill>
                <a:latin typeface="Calibri" pitchFamily="34" charset="0"/>
                <a:cs typeface="Calibri" pitchFamily="34" charset="0"/>
              </a:rPr>
              <a:t>Većina ciljeva zadanih zadatkom uspješno su ostvareni</a:t>
            </a:r>
          </a:p>
          <a:p>
            <a:pPr marL="342900" indent="-342900">
              <a:lnSpc>
                <a:spcPts val="1823"/>
              </a:lnSpc>
              <a:spcAft>
                <a:spcPts val="700"/>
              </a:spcAft>
              <a:buSzPct val="100000"/>
              <a:buChar char="▪"/>
            </a:pPr>
            <a:r>
              <a:rPr lang="hr-HR" sz="1350" dirty="0">
                <a:solidFill>
                  <a:srgbClr val="3F4536"/>
                </a:solidFill>
                <a:latin typeface="Calibri" pitchFamily="34" charset="0"/>
                <a:cs typeface="Calibri" pitchFamily="34" charset="0"/>
              </a:rPr>
              <a:t>Popis za kupovinu, vlastiti unos recepata, iOS verzija</a:t>
            </a:r>
          </a:p>
        </p:txBody>
      </p:sp>
    </p:spTree>
    <p:extLst>
      <p:ext uri="{BB962C8B-B14F-4D97-AF65-F5344CB8AC3E}">
        <p14:creationId xmlns:p14="http://schemas.microsoft.com/office/powerpoint/2010/main" val="2052580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4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facet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Hvala na pažnji!</a:t>
            </a:r>
            <a:endParaRPr lang="hr-HR" sz="4600" dirty="0"/>
          </a:p>
        </p:txBody>
      </p:sp>
      <p:sp>
        <p:nvSpPr>
          <p:cNvPr id="5" name="Text 2"/>
          <p:cNvSpPr/>
          <p:nvPr/>
        </p:nvSpPr>
        <p:spPr>
          <a:xfrm>
            <a:off x="868680" y="4709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hr-HR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Antun Barčot</a:t>
            </a:r>
            <a:endParaRPr lang="hr-HR" sz="1500" dirty="0"/>
          </a:p>
          <a:p>
            <a:pPr marL="0" indent="0">
              <a:lnSpc>
                <a:spcPts val="2400"/>
              </a:lnSpc>
              <a:buNone/>
            </a:pPr>
            <a:r>
              <a:rPr lang="hr-HR" sz="1500" dirty="0">
                <a:solidFill>
                  <a:srgbClr val="D6E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prof. dr. sc. Vladan Papić</a:t>
            </a:r>
            <a:endParaRPr lang="hr-HR" sz="1500" dirty="0"/>
          </a:p>
          <a:p>
            <a:pPr marL="0" indent="0">
              <a:lnSpc>
                <a:spcPts val="2400"/>
              </a:lnSpc>
              <a:buNone/>
            </a:pPr>
            <a:r>
              <a:rPr lang="hr-HR" sz="1500" dirty="0">
                <a:solidFill>
                  <a:srgbClr val="AF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FESB, Split, 26. kolovoza 2026.</a:t>
            </a:r>
            <a:endParaRPr lang="hr-HR" sz="1500" dirty="0"/>
          </a:p>
        </p:txBody>
      </p:sp>
    </p:spTree>
    <p:extLst>
      <p:ext uri="{BB962C8B-B14F-4D97-AF65-F5344CB8AC3E}">
        <p14:creationId xmlns:p14="http://schemas.microsoft.com/office/powerpoint/2010/main" val="144639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59154B-FD9A-496E-973F-B316105B6805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2f02d1c-f929-47ff-9e99-8dac548f6c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1119</Words>
  <Application>Microsoft Office PowerPoint</Application>
  <PresentationFormat>Widescreen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Mobilna aplikacija za recepte</dc:title>
  <dc:subject>PptxGenJS Presentation</dc:subject>
  <dc:creator>Antun Barcot</dc:creator>
  <cp:lastModifiedBy>Antun B</cp:lastModifiedBy>
  <cp:revision>14</cp:revision>
  <dcterms:created xsi:type="dcterms:W3CDTF">2026-08-22T11:17:25Z</dcterms:created>
  <dcterms:modified xsi:type="dcterms:W3CDTF">2026-08-25T15:18:06Z</dcterms:modified>
</cp:coreProperties>
</file>